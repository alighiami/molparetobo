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A2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5202B"/>
                </a:solidFill>
                <a:latin typeface="Calibri"/>
              </a:rPr>
              <a:t>MolParetoBO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603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5A6A78"/>
                </a:solidFill>
                <a:latin typeface="Calibri"/>
              </a:rPr>
              <a:t>Surrogate-assisted multi-objective molecular optimization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576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5202B"/>
                </a:solidFill>
                <a:latin typeface="Calibri"/>
              </a:rPr>
              <a:t>Master in AI for Drug Discovery — University of Salerno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05072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5202B"/>
                </a:solidFill>
                <a:latin typeface="Calibri"/>
              </a:rPr>
              <a:t>Student: Ali Ghiami · Project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352544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5202B"/>
                </a:solidFill>
                <a:latin typeface="Calibri"/>
              </a:rPr>
              <a:t>10–15 minute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A2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5202B"/>
                </a:solidFill>
                <a:latin typeface="Calibri"/>
              </a:rPr>
              <a:t>1. Why multi-objective?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15202B"/>
                </a:solidFill>
                <a:latin typeface="Calibri"/>
              </a:rPr>
              <a:t>• Drug candidates must balance many conflicting properties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5202B"/>
                </a:solidFill>
                <a:latin typeface="Calibri"/>
              </a:rPr>
              <a:t>• A single weighted score hides trade-offs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5202B"/>
                </a:solidFill>
                <a:latin typeface="Calibri"/>
              </a:rPr>
              <a:t>• Pareto optimization keeps undominated compromises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5202B"/>
                </a:solidFill>
                <a:latin typeface="Calibri"/>
              </a:rPr>
              <a:t>• Expensive oracles cannot evaluate every mutant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5202B"/>
                </a:solidFill>
                <a:latin typeface="Calibri"/>
              </a:rPr>
              <a:t>• Need: mutations + filters + surrogate + smart selection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A2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5202B"/>
                </a:solidFill>
                <a:latin typeface="Calibri"/>
              </a:rPr>
              <a:t>2. Pipeline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15202B"/>
                </a:solidFill>
                <a:latin typeface="Calibri"/>
              </a:rPr>
              <a:t>• Seed → RDKit mutations → suitability filters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5202B"/>
                </a:solidFill>
                <a:latin typeface="Calibri"/>
              </a:rPr>
              <a:t>• Oracle scores 5 endpoints (QED, SA, logP, logS, Tox)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5202B"/>
                </a:solidFill>
                <a:latin typeface="Calibri"/>
              </a:rPr>
              <a:t>• Surrogate (RF on Morgan fingerprints) predicts cheaply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5202B"/>
                </a:solidFill>
                <a:latin typeface="Calibri"/>
              </a:rPr>
              <a:t>• Pareto front shows trade-offs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5202B"/>
                </a:solidFill>
                <a:latin typeface="Calibri"/>
              </a:rPr>
              <a:t>• Acquisition picks the next batch (quality + uncertainty + diversity)</a:t>
            </a:r>
          </a:p>
        </p:txBody>
      </p:sp>
      <p:pic>
        <p:nvPicPr>
          <p:cNvPr id="6" name="Picture 5" descr="05_optimization_progr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188720"/>
            <a:ext cx="5029200" cy="191919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A2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5202B"/>
                </a:solidFill>
                <a:latin typeface="Calibri"/>
              </a:rPr>
              <a:t>3. Seed &amp; endpoints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15202B"/>
                </a:solidFill>
                <a:latin typeface="Calibri"/>
              </a:rPr>
              <a:t>• Seed: ibuprofen (one molecule first, then extend)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5202B"/>
                </a:solidFill>
                <a:latin typeface="Calibri"/>
              </a:rPr>
              <a:t>• QED ↑ · SA ↓ · logP ~ 2.5 · logS ↑ · Tox ↓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5202B"/>
                </a:solidFill>
                <a:latin typeface="Calibri"/>
              </a:rPr>
              <a:t>• Oracles are computational proxies (student setting)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5202B"/>
                </a:solidFill>
                <a:latin typeface="Calibri"/>
              </a:rPr>
              <a:t>• Toxicity is a teaching heuristic — stated explicitly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5202B"/>
                </a:solidFill>
                <a:latin typeface="Calibri"/>
              </a:rPr>
              <a:t>• SoftMining-style workflow; public seed for reproducibility</a:t>
            </a:r>
          </a:p>
        </p:txBody>
      </p:sp>
      <p:pic>
        <p:nvPicPr>
          <p:cNvPr id="6" name="Picture 5" descr="01_ibuprofen_atom_ind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188720"/>
            <a:ext cx="502920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A2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5202B"/>
                </a:solidFill>
                <a:latin typeface="Calibri"/>
              </a:rPr>
              <a:t>4. Mutations + suitability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15202B"/>
                </a:solidFill>
                <a:latin typeface="Calibri"/>
              </a:rPr>
              <a:t>• Methyl add/remove and ring F/Cl/OH/Me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5202B"/>
                </a:solidFill>
                <a:latin typeface="Calibri"/>
              </a:rPr>
              <a:t>• After mutation: sanitize, deduplicate, MW, QED gates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5202B"/>
                </a:solidFill>
                <a:latin typeface="Calibri"/>
              </a:rPr>
              <a:t>• kept column = suitability decision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5202B"/>
                </a:solidFill>
                <a:latin typeface="Calibri"/>
              </a:rPr>
              <a:t>• Gen-2 mutants enlarge surrogate training data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5202B"/>
                </a:solidFill>
                <a:latin typeface="Calibri"/>
              </a:rPr>
              <a:t>• Interactive widgets: tune QED filter and re-run live</a:t>
            </a:r>
          </a:p>
        </p:txBody>
      </p:sp>
      <p:pic>
        <p:nvPicPr>
          <p:cNvPr id="6" name="Picture 5" descr="02_mutation_gall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188720"/>
            <a:ext cx="502920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A2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5202B"/>
                </a:solidFill>
                <a:latin typeface="Calibri"/>
              </a:rPr>
              <a:t>5. Surrogate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15202B"/>
                </a:solidFill>
                <a:latin typeface="Calibri"/>
              </a:rPr>
              <a:t>• Morgan fingerprints (radius 2, 2048 bits)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5202B"/>
                </a:solidFill>
                <a:latin typeface="Calibri"/>
              </a:rPr>
              <a:t>• Multi-output Random Forest for 5 endpoints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5202B"/>
                </a:solidFill>
                <a:latin typeface="Calibri"/>
              </a:rPr>
              <a:t>• Hold-out MAE / R² reported honestly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5202B"/>
                </a:solidFill>
                <a:latin typeface="Calibri"/>
              </a:rPr>
              <a:t>• Small chemical neighbourhood → limited generalization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5202B"/>
                </a:solidFill>
                <a:latin typeface="Calibri"/>
              </a:rPr>
              <a:t>• Retrained inside the active loop as labels arrive</a:t>
            </a:r>
          </a:p>
        </p:txBody>
      </p:sp>
      <p:pic>
        <p:nvPicPr>
          <p:cNvPr id="6" name="Picture 5" descr="03_surrogate_pa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188720"/>
            <a:ext cx="5029200" cy="123524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A2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5202B"/>
                </a:solidFill>
                <a:latin typeface="Calibri"/>
              </a:rPr>
              <a:t>6. Pareto front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15202B"/>
                </a:solidFill>
                <a:latin typeface="Calibri"/>
              </a:rPr>
              <a:t>• Maximize: +QED, −SA, −|logP−2.5|, +logS, −Tox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5202B"/>
                </a:solidFill>
                <a:latin typeface="Calibri"/>
              </a:rPr>
              <a:t>• Non-dominated molecules = approximate front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5202B"/>
                </a:solidFill>
                <a:latin typeface="Calibri"/>
              </a:rPr>
              <a:t>• No single ‘best’ compound — trade-offs are the result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5202B"/>
                </a:solidFill>
                <a:latin typeface="Calibri"/>
              </a:rPr>
              <a:t>• 2D projections for interpretation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5202B"/>
                </a:solidFill>
                <a:latin typeface="Calibri"/>
              </a:rPr>
              <a:t>• Hypervolume proxy monitors progress</a:t>
            </a:r>
          </a:p>
        </p:txBody>
      </p:sp>
      <p:pic>
        <p:nvPicPr>
          <p:cNvPr id="6" name="Picture 5" descr="04_pareto_fro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188720"/>
            <a:ext cx="5029200" cy="156693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A2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5202B"/>
                </a:solidFill>
                <a:latin typeface="Calibri"/>
              </a:rPr>
              <a:t>7. Acquisition &amp; active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15202B"/>
                </a:solidFill>
                <a:latin typeface="Calibri"/>
              </a:rPr>
              <a:t>• acquisition = α·quality + β·uncertainty + γ·diversity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5202B"/>
                </a:solidFill>
                <a:latin typeface="Calibri"/>
              </a:rPr>
              <a:t>• Select top-k → oracle label → retrain → update front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5202B"/>
                </a:solidFill>
                <a:latin typeface="Calibri"/>
              </a:rPr>
              <a:t>• 5 iterations demonstrated in the notebook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5202B"/>
                </a:solidFill>
                <a:latin typeface="Calibri"/>
              </a:rPr>
              <a:t>• Widget lets you change α/β/γ live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5202B"/>
                </a:solidFill>
                <a:latin typeface="Calibri"/>
              </a:rPr>
              <a:t>• Simplified alternative to full qEHVI (proposal-friendly)</a:t>
            </a:r>
          </a:p>
        </p:txBody>
      </p:sp>
      <p:pic>
        <p:nvPicPr>
          <p:cNvPr id="6" name="Picture 5" descr="05_optimization_progr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188720"/>
            <a:ext cx="5029200" cy="191919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A2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5202B"/>
                </a:solidFill>
                <a:latin typeface="Calibri"/>
              </a:rPr>
              <a:t>8. Discussion — strengths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15202B"/>
                </a:solidFill>
                <a:latin typeface="Calibri"/>
              </a:rPr>
              <a:t>• End-to-end reproducible workflow (local + Colab)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5202B"/>
                </a:solidFill>
                <a:latin typeface="Calibri"/>
              </a:rPr>
              <a:t>• Clear scientific framing of multi-objective trade-offs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5202B"/>
                </a:solidFill>
                <a:latin typeface="Calibri"/>
              </a:rPr>
              <a:t>• AI components: representations, learning, active selection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5202B"/>
                </a:solidFill>
                <a:latin typeface="Calibri"/>
              </a:rPr>
              <a:t>• Interactive demos verification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5202B"/>
                </a:solidFill>
                <a:latin typeface="Calibri"/>
              </a:rPr>
              <a:t>• Honest limits stated for evaluation criteria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A2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5202B"/>
                </a:solidFill>
                <a:latin typeface="Calibri"/>
              </a:rPr>
              <a:t>9. Discussion — limits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15202B"/>
                </a:solidFill>
                <a:latin typeface="Calibri"/>
              </a:rPr>
              <a:t>• Computational oracles ≠ wet-lab assays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5202B"/>
                </a:solidFill>
                <a:latin typeface="Calibri"/>
              </a:rPr>
              <a:t>• Tox proxy is pedagogical, not validated toxicology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5202B"/>
                </a:solidFill>
                <a:latin typeface="Calibri"/>
              </a:rPr>
              <a:t>• Local chemistry around ibuprofen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5202B"/>
                </a:solidFill>
                <a:latin typeface="Calibri"/>
              </a:rPr>
              <a:t>• RF tree variance ≠ calibrated Bayesian uncertainty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5202B"/>
                </a:solidFill>
                <a:latin typeface="Calibri"/>
              </a:rPr>
              <a:t>• 2D HV monitor understates full 5-D volume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A2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5202B"/>
                </a:solidFill>
                <a:latin typeface="Calibri"/>
              </a:rPr>
              <a:t>10. Extensions — GP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15202B"/>
                </a:solidFill>
                <a:latin typeface="Calibri"/>
              </a:rPr>
              <a:t>• PCA on fingerprints → Gaussian Process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5202B"/>
                </a:solidFill>
                <a:latin typeface="Calibri"/>
              </a:rPr>
              <a:t>• Endpoint-wise predictive standard deviation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5202B"/>
                </a:solidFill>
                <a:latin typeface="Calibri"/>
              </a:rPr>
              <a:t>• Drop-in uncertainty for acquisition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5202B"/>
                </a:solidFill>
                <a:latin typeface="Calibri"/>
              </a:rPr>
              <a:t>• Scales better than raw 2048-D GP on small N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5202B"/>
                </a:solidFill>
                <a:latin typeface="Calibri"/>
              </a:rPr>
              <a:t>• Runnable in the notebook (Section 10A)</a:t>
            </a:r>
          </a:p>
        </p:txBody>
      </p:sp>
      <p:pic>
        <p:nvPicPr>
          <p:cNvPr id="6" name="Picture 5" descr="06_gp_uncertain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188720"/>
            <a:ext cx="5029200" cy="289075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A2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5202B"/>
                </a:solidFill>
                <a:latin typeface="Calibri"/>
              </a:rPr>
              <a:t>10b. Tools &amp; interactive widgets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15202B"/>
                </a:solidFill>
                <a:latin typeface="Calibri"/>
              </a:rPr>
              <a:t>• RDKit · scikit-learn · pymoo · NumPy/pandas/matplotlib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5202B"/>
                </a:solidFill>
                <a:latin typeface="Calibri"/>
              </a:rPr>
              <a:t>• ipywidgets Control Panel: 5 one-click checks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5202B"/>
                </a:solidFill>
                <a:latin typeface="Calibri"/>
              </a:rPr>
              <a:t>• 1 filters · 2 inspect · 3 surrogate · 4 acquisition · 5 Pareto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5202B"/>
                </a:solidFill>
                <a:latin typeface="Calibri"/>
              </a:rPr>
              <a:t>• Runs on local Jupyter or Google Colab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5202B"/>
                </a:solidFill>
                <a:latin typeface="Calibri"/>
              </a:rPr>
              <a:t>• Details: Appendix B in the notebook /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636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A6A78"/>
                </a:solidFill>
                <a:latin typeface="Calibri"/>
              </a:rPr>
              <a:t>Open notebook → Run all → Section 8c → click buttons 1–5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A2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5202B"/>
                </a:solidFill>
                <a:latin typeface="Calibri"/>
              </a:rPr>
              <a:t>11. Extensions — NSGA-II &amp; EHVI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15202B"/>
                </a:solidFill>
                <a:latin typeface="Calibri"/>
              </a:rPr>
              <a:t>• NSGA-II: non-dominated sorting + crowding on mutant pool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5202B"/>
                </a:solidFill>
                <a:latin typeface="Calibri"/>
              </a:rPr>
              <a:t>• Keeps a diverse elite subset of the front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5202B"/>
                </a:solidFill>
                <a:latin typeface="Calibri"/>
              </a:rPr>
              <a:t>• 2D EHVI: Monte Carlo expected hypervolume improvement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5202B"/>
                </a:solidFill>
                <a:latin typeface="Calibri"/>
              </a:rPr>
              <a:t>• Suggests candidates that grow the front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5202B"/>
                </a:solidFill>
                <a:latin typeface="Calibri"/>
              </a:rPr>
              <a:t>• Full qEHVI (BoTorch) listed as future work</a:t>
            </a:r>
          </a:p>
        </p:txBody>
      </p:sp>
      <p:pic>
        <p:nvPicPr>
          <p:cNvPr id="6" name="Picture 5" descr="08_ehvi_pic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188720"/>
            <a:ext cx="5029200" cy="307449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A2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5202B"/>
                </a:solidFill>
                <a:latin typeface="Calibri"/>
              </a:rPr>
              <a:t>12. Conclusions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15202B"/>
                </a:solidFill>
                <a:latin typeface="Calibri"/>
              </a:rPr>
              <a:t>• Built a teaching-scale MolParetoBO loop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5202B"/>
                </a:solidFill>
                <a:latin typeface="Calibri"/>
              </a:rPr>
              <a:t>• Mutate → filter → score → surrogate → Pareto → acquire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5202B"/>
                </a:solidFill>
                <a:latin typeface="Calibri"/>
              </a:rPr>
              <a:t>• Results are trade-off sets, not one winner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5202B"/>
                </a:solidFill>
                <a:latin typeface="Calibri"/>
              </a:rPr>
              <a:t>• Extensions show path to research-grade BO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5202B"/>
                </a:solidFill>
                <a:latin typeface="Calibri"/>
              </a:rPr>
              <a:t>• Ready for SoftMining / tutor seeds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636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A6A78"/>
                </a:solidFill>
                <a:latin typeface="Calibri"/>
              </a:rPr>
              <a:t>Questions? · Notebook: MolParetoBO_Report.ipynb · Report: MolParetoBO_Report.pdf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